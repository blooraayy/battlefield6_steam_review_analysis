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0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ACCDD"/>
                </a:solidFill>
              </a:rPr>
              <a:t>Análisis de reseñas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Battlefield 6 en Steam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3063240"/>
            <a:ext cx="6702552" cy="0"/>
          </a:xfrm>
          <a:prstGeom prst="line">
            <a:avLst/>
          </a:prstGeom>
          <a:ln w="25400">
            <a:solidFill>
              <a:srgbClr val="006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32461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BBCC"/>
                </a:solidFill>
              </a:rPr>
              <a:t>Preguntas de investigación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11880"/>
            <a:ext cx="944575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dirty="0">
                <a:solidFill>
                  <a:srgbClr val="CCDDEE"/>
                </a:solidFill>
              </a:rPr>
              <a:t>① ¿</a:t>
            </a:r>
            <a:r>
              <a:rPr sz="1500" b="0" i="1" dirty="0" err="1">
                <a:solidFill>
                  <a:srgbClr val="CCDDEE"/>
                </a:solidFill>
              </a:rPr>
              <a:t>Qué</a:t>
            </a:r>
            <a:r>
              <a:rPr sz="1500" b="0" i="1" dirty="0">
                <a:solidFill>
                  <a:srgbClr val="CCDDEE"/>
                </a:solidFill>
              </a:rPr>
              <a:t> </a:t>
            </a:r>
            <a:r>
              <a:rPr sz="1500" b="0" i="1" dirty="0" err="1">
                <a:solidFill>
                  <a:srgbClr val="CCDDEE"/>
                </a:solidFill>
              </a:rPr>
              <a:t>aspectos</a:t>
            </a:r>
            <a:r>
              <a:rPr lang="es-ES" sz="1500" b="0" i="1" dirty="0">
                <a:solidFill>
                  <a:srgbClr val="CCDDEE"/>
                </a:solidFill>
              </a:rPr>
              <a:t> o temas</a:t>
            </a:r>
            <a:r>
              <a:rPr sz="1500" b="0" i="1" dirty="0">
                <a:solidFill>
                  <a:srgbClr val="CCDDEE"/>
                </a:solidFill>
              </a:rPr>
              <a:t> </a:t>
            </a:r>
            <a:r>
              <a:rPr sz="1500" b="0" i="1" dirty="0" err="1">
                <a:solidFill>
                  <a:srgbClr val="CCDDEE"/>
                </a:solidFill>
              </a:rPr>
              <a:t>aparecen</a:t>
            </a:r>
            <a:r>
              <a:rPr sz="1500" b="0" i="1" dirty="0">
                <a:solidFill>
                  <a:srgbClr val="CCDDEE"/>
                </a:solidFill>
              </a:rPr>
              <a:t> con </a:t>
            </a:r>
            <a:r>
              <a:rPr sz="1500" b="0" i="1" dirty="0" err="1">
                <a:solidFill>
                  <a:srgbClr val="CCDDEE"/>
                </a:solidFill>
              </a:rPr>
              <a:t>más</a:t>
            </a:r>
            <a:r>
              <a:rPr sz="1500" b="0" i="1" dirty="0">
                <a:solidFill>
                  <a:srgbClr val="CCDDEE"/>
                </a:solidFill>
              </a:rPr>
              <a:t> </a:t>
            </a:r>
            <a:r>
              <a:rPr sz="1500" b="0" i="1" dirty="0" err="1">
                <a:solidFill>
                  <a:srgbClr val="CCDDEE"/>
                </a:solidFill>
              </a:rPr>
              <a:t>frecuencia</a:t>
            </a:r>
            <a:r>
              <a:rPr sz="1500" b="0" i="1" dirty="0">
                <a:solidFill>
                  <a:srgbClr val="CCDDEE"/>
                </a:solidFill>
              </a:rPr>
              <a:t> </a:t>
            </a:r>
            <a:r>
              <a:rPr sz="1500" b="0" i="1" dirty="0" err="1">
                <a:solidFill>
                  <a:srgbClr val="CCDDEE"/>
                </a:solidFill>
              </a:rPr>
              <a:t>en</a:t>
            </a:r>
            <a:r>
              <a:rPr sz="1500" b="0" i="1" dirty="0">
                <a:solidFill>
                  <a:srgbClr val="CCDDEE"/>
                </a:solidFill>
              </a:rPr>
              <a:t> las </a:t>
            </a:r>
            <a:r>
              <a:rPr sz="1500" b="0" i="1" dirty="0" err="1">
                <a:solidFill>
                  <a:srgbClr val="CCDDEE"/>
                </a:solidFill>
              </a:rPr>
              <a:t>reseñas</a:t>
            </a:r>
            <a:r>
              <a:rPr sz="1500" b="0" i="1" dirty="0">
                <a:solidFill>
                  <a:srgbClr val="CCDDEE"/>
                </a:solidFill>
              </a:rPr>
              <a:t> </a:t>
            </a:r>
            <a:r>
              <a:rPr sz="1500" b="0" i="1" dirty="0" err="1">
                <a:solidFill>
                  <a:srgbClr val="CCDDEE"/>
                </a:solidFill>
              </a:rPr>
              <a:t>negativas</a:t>
            </a:r>
            <a:r>
              <a:rPr sz="1500" b="0" i="1" dirty="0">
                <a:solidFill>
                  <a:srgbClr val="CCDDEE"/>
                </a:solidFill>
              </a:rPr>
              <a:t> de Battlefield 6 </a:t>
            </a:r>
            <a:r>
              <a:rPr sz="1500" b="0" i="1" dirty="0" err="1">
                <a:solidFill>
                  <a:srgbClr val="CCDDEE"/>
                </a:solidFill>
              </a:rPr>
              <a:t>en</a:t>
            </a:r>
            <a:r>
              <a:rPr sz="1500" b="0" i="1" dirty="0">
                <a:solidFill>
                  <a:srgbClr val="CCDDEE"/>
                </a:solidFill>
              </a:rPr>
              <a:t> Steam?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5196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DDEE"/>
                </a:solidFill>
              </a:rPr>
              <a:t>② ¿Qué características del juego generan mayor satisfacción o insatisfacción entre los jugadores?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Analítica de Datos en la Web y Redes Sociales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A5C"/>
                </a:solidFill>
              </a:rPr>
              <a:t>¿Por qué Battlefield 6 en Steam?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30000" cy="0"/>
          </a:xfrm>
          <a:prstGeom prst="line">
            <a:avLst/>
          </a:prstGeom>
          <a:ln w="31750">
            <a:solidFill>
              <a:srgbClr val="006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65760" y="1005840"/>
            <a:ext cx="3657600" cy="201168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91.197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CCDD"/>
                </a:solidFill>
              </a:rPr>
              <a:t>reseñas analizadas
tras limpieza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005840"/>
            <a:ext cx="3657600" cy="201168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43400" y="10972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Oct 2025
→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9659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CCDD"/>
                </a:solidFill>
              </a:rPr>
              <a:t>periodo completo
de lanzamiento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005840"/>
            <a:ext cx="3657600" cy="201168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0972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168.341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CCDD"/>
                </a:solidFill>
              </a:rPr>
              <a:t>reseñas extraídas
de la API de Steam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91840"/>
            <a:ext cx="114300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A5C"/>
                </a:solidFill>
              </a:rPr>
              <a:t>Nuestras preguntas de investigación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1A1A"/>
                </a:solidFill>
              </a:rPr>
              <a:t>① ¿Qué aspectos aparecen con más frecuencia en las reseñas negativas de Battlefield 6 en Steam?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1A1A"/>
                </a:solidFill>
              </a:rPr>
              <a:t>② ¿Qué características del juego generan mayor satisfacción o insatisfacción entre los jugadores?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00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¿Qué sienten los jugadores?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CCDD"/>
                </a:solidFill>
              </a:rPr>
              <a:t>Análisis de sentimiento — RoBERTa transformer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A5C"/>
                </a:solidFill>
              </a:rPr>
              <a:t>El sentimiento está dividido — sin consenso claro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30000" cy="0"/>
          </a:xfrm>
          <a:prstGeom prst="line">
            <a:avLst/>
          </a:prstGeom>
          <a:ln w="31750">
            <a:solidFill>
              <a:srgbClr val="006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01_senti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858000" cy="489857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98079" y="1005840"/>
            <a:ext cx="4389120" cy="1143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79" y="10515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45%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691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Positivo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377440"/>
            <a:ext cx="4389120" cy="1143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24231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0632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Neutral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3749039"/>
            <a:ext cx="4389120" cy="1143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3794759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27%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434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Negativo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1663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3A5C"/>
                </a:solidFill>
              </a:rPr>
              <a:t>RoBERTa: 78.87% accuracy vs 68.85% VADER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A5C"/>
                </a:solidFill>
              </a:rPr>
              <a:t>El entusiasmo del lanzamiento no duró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30000" cy="0"/>
          </a:xfrm>
          <a:prstGeom prst="line">
            <a:avLst/>
          </a:prstGeom>
          <a:ln w="31750">
            <a:solidFill>
              <a:srgbClr val="006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09_weekly_sentiment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483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852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● Oct–Nov 2025: lanzamiento positivo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8521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● Dic 2025: cae — pico monetización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● 2026: negativo sostenido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00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¿De qué hablan exactamente?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CCDD"/>
                </a:solidFill>
              </a:rPr>
              <a:t>Modelado de temas con LDA — coherence c_v: 0.64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A5C"/>
                </a:solidFill>
              </a:rPr>
              <a:t>¿Cuánto habla la comunidad de cada tema?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30000" cy="0"/>
          </a:xfrm>
          <a:prstGeom prst="line">
            <a:avLst/>
          </a:prstGeom>
          <a:ln w="31750">
            <a:solidFill>
              <a:srgbClr val="006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26_topic_dist_col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63809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F8C8D"/>
                </a:solidFill>
              </a:rPr>
              <a:t>76.1% de reseñas tienen temas secundarios — los jugadores mezclan varios asuntos en una sola reseña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A5C"/>
                </a:solidFill>
              </a:rPr>
              <a:t>¿De qué hablan los que recomiendan vs los que no?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77240"/>
            <a:ext cx="11430000" cy="0"/>
          </a:xfrm>
          <a:prstGeom prst="line">
            <a:avLst/>
          </a:prstGeom>
          <a:ln w="31750">
            <a:solidFill>
              <a:srgbClr val="006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27_topics_voted_up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4232"/>
            <a:ext cx="11612880" cy="52625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5760720"/>
            <a:ext cx="539496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83387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Positivos (71.8%) → Comparan BF6 con BF3/BF4 favorablemente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5760720"/>
            <a:ext cx="566928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5833872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Negativos → Bugs (28.7%)  ·  Mapas (19.4%)  ·  Monetización (19.2%)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¿Qué genera satisfacción e insatisfacción en Battlefield 6?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868680"/>
            <a:ext cx="10360152" cy="0"/>
          </a:xfrm>
          <a:prstGeom prst="line">
            <a:avLst/>
          </a:prstGeom>
          <a:ln w="19050">
            <a:solidFill>
              <a:srgbClr val="006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51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</a:rPr>
              <a:t>Fuentes de insatisfacción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371600" cy="1234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66.8%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414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negativo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6916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Monetización y Battlepass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1031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CDD"/>
                </a:solidFill>
              </a:rPr>
              <a:t>la mayor queja de la comunidad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371600" cy="1234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62.1%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50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negativo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004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Bugs y problemas de servidor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6118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CDD"/>
                </a:solidFill>
              </a:rPr>
              <a:t>segunda fuente de negatividad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17720"/>
            <a:ext cx="1371600" cy="1234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80060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51.1%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58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negativo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70915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Mapas, armas y vehículos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120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CDD"/>
                </a:solidFill>
              </a:rPr>
              <a:t>sentimiento mixto, sin consenso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9904" y="1005840"/>
            <a:ext cx="36576" cy="5394960"/>
          </a:xfrm>
          <a:prstGeom prst="rect">
            <a:avLst/>
          </a:prstGeom>
          <a:solidFill>
            <a:srgbClr val="00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1051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</a:rPr>
              <a:t>Fuentes de satisfacción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600200"/>
            <a:ext cx="1554480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173736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65.8%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16916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Comparación con BF3 y BF4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1031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CDD"/>
                </a:solidFill>
              </a:rPr>
              <a:t>el juego recupera la esencia de la saga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108960"/>
            <a:ext cx="1554480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24612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oct–nov
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2004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Lanzamiento positivo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6118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CDD"/>
                </a:solidFill>
              </a:rPr>
              <a:t>la comunidad lo recibió bien inicialmente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617720"/>
            <a:ext cx="1554480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475488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87h vs 62h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70915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Horas jugadas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5120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CDD"/>
                </a:solidFill>
              </a:rPr>
              <a:t>más comprometido → más satisfecho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0" y="6519672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Analítica de Datos en la Web y Redes Sociales  ·  Mayo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Conclusiones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822960"/>
            <a:ext cx="10360152" cy="0"/>
          </a:xfrm>
          <a:prstGeom prst="line">
            <a:avLst/>
          </a:prstGeom>
          <a:ln w="19050">
            <a:solidFill>
              <a:srgbClr val="006E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005840"/>
            <a:ext cx="640080" cy="1417320"/>
          </a:xfrm>
          <a:prstGeom prst="rect">
            <a:avLst/>
          </a:prstGeom>
          <a:solidFill>
            <a:srgbClr val="00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7899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Battlefield 6 arrancó bien — y la comunidad lo sabe.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3619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El sentimiento fue positivo en el lanzamiento (oct–nov 2025). Los jugadores celebraron el regreso a las raíces de la saga: BF3, BF4, campaña y multijugador clásico. Ese es el mayor activo del juego.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640080" cy="1417320"/>
          </a:xfrm>
          <a:prstGeom prst="rect">
            <a:avLst/>
          </a:prstGeom>
          <a:solidFill>
            <a:srgbClr val="00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1089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6207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Pero dos problemas lo hundieron: monetización y bugs.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1927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Desde diciembre de 2025 el sentimiento cayó y no se recuperó. El 66.8% de las reseñas sobre monetización son negativas. El 62.1% de las de bugs también. La comunidad no perdona.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72000"/>
            <a:ext cx="640080" cy="1417320"/>
          </a:xfrm>
          <a:prstGeom prst="rect">
            <a:avLst/>
          </a:prstGeom>
          <a:solidFill>
            <a:srgbClr val="00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4892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451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RoBERTa capturó lo que el pulgar arriba/abajo no puede.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0235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78.87% de accuracy frente al 68.85% de VADER. Muchos jugadores recomiendan el juego pero critican duramente la monetización en el mismo párrafo. El análisis de texto revela una comunidad dividida que Steam simplifica en un binario.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0" y="6519672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Analítica de Datos en la Web y Redes Sociales  · 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547</Words>
  <Application>Microsoft Office PowerPoint</Application>
  <PresentationFormat>Personalizado</PresentationFormat>
  <Paragraphs>73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Pablo Ruíz Morán</cp:lastModifiedBy>
  <cp:revision>2</cp:revision>
  <dcterms:created xsi:type="dcterms:W3CDTF">2013-01-27T09:14:16Z</dcterms:created>
  <dcterms:modified xsi:type="dcterms:W3CDTF">2026-05-19T16:56:54Z</dcterms:modified>
  <cp:category/>
</cp:coreProperties>
</file>